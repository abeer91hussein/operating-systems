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6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7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E2685-1854-4C94-90CE-918C5E49A28C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658E5-8AC2-44F0-960E-17BEACC3F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27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235A8-3925-4E98-B3E4-CAAF4164867E}" type="slidenum">
              <a:rPr lang="ar-EG" smtClean="0"/>
              <a:t>1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40734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ening slide 11 (24/09/19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>
            <a:spLocks noGrp="1" noEditPoints="1"/>
          </p:cNvSpPr>
          <p:nvPr>
            <p:ph type="pic" sz="quarter" idx="10"/>
          </p:nvPr>
        </p:nvSpPr>
        <p:spPr bwMode="auto">
          <a:xfrm>
            <a:off x="0" y="1"/>
            <a:ext cx="6860949" cy="5158608"/>
          </a:xfrm>
          <a:custGeom>
            <a:avLst/>
            <a:gdLst>
              <a:gd name="T0" fmla="*/ 0 w 6057"/>
              <a:gd name="T1" fmla="*/ 0 h 3414"/>
              <a:gd name="T2" fmla="*/ 1460 w 6057"/>
              <a:gd name="T3" fmla="*/ 0 h 3414"/>
              <a:gd name="T4" fmla="*/ 349 w 6057"/>
              <a:gd name="T5" fmla="*/ 1111 h 3414"/>
              <a:gd name="T6" fmla="*/ 0 w 6057"/>
              <a:gd name="T7" fmla="*/ 761 h 3414"/>
              <a:gd name="T8" fmla="*/ 0 w 6057"/>
              <a:gd name="T9" fmla="*/ 0 h 3414"/>
              <a:gd name="T10" fmla="*/ 1539 w 6057"/>
              <a:gd name="T11" fmla="*/ 0 h 3414"/>
              <a:gd name="T12" fmla="*/ 3758 w 6057"/>
              <a:gd name="T13" fmla="*/ 0 h 3414"/>
              <a:gd name="T14" fmla="*/ 2649 w 6057"/>
              <a:gd name="T15" fmla="*/ 1111 h 3414"/>
              <a:gd name="T16" fmla="*/ 1539 w 6057"/>
              <a:gd name="T17" fmla="*/ 0 h 3414"/>
              <a:gd name="T18" fmla="*/ 3839 w 6057"/>
              <a:gd name="T19" fmla="*/ 0 h 3414"/>
              <a:gd name="T20" fmla="*/ 6057 w 6057"/>
              <a:gd name="T21" fmla="*/ 0 h 3414"/>
              <a:gd name="T22" fmla="*/ 4948 w 6057"/>
              <a:gd name="T23" fmla="*/ 1111 h 3414"/>
              <a:gd name="T24" fmla="*/ 3839 w 6057"/>
              <a:gd name="T25" fmla="*/ 0 h 3414"/>
              <a:gd name="T26" fmla="*/ 2608 w 6057"/>
              <a:gd name="T27" fmla="*/ 1151 h 3414"/>
              <a:gd name="T28" fmla="*/ 1499 w 6057"/>
              <a:gd name="T29" fmla="*/ 2263 h 3414"/>
              <a:gd name="T30" fmla="*/ 390 w 6057"/>
              <a:gd name="T31" fmla="*/ 1151 h 3414"/>
              <a:gd name="T32" fmla="*/ 1499 w 6057"/>
              <a:gd name="T33" fmla="*/ 40 h 3414"/>
              <a:gd name="T34" fmla="*/ 2608 w 6057"/>
              <a:gd name="T35" fmla="*/ 1151 h 3414"/>
              <a:gd name="T36" fmla="*/ 3758 w 6057"/>
              <a:gd name="T37" fmla="*/ 2303 h 3414"/>
              <a:gd name="T38" fmla="*/ 2649 w 6057"/>
              <a:gd name="T39" fmla="*/ 3414 h 3414"/>
              <a:gd name="T40" fmla="*/ 1539 w 6057"/>
              <a:gd name="T41" fmla="*/ 2303 h 3414"/>
              <a:gd name="T42" fmla="*/ 2649 w 6057"/>
              <a:gd name="T43" fmla="*/ 1192 h 3414"/>
              <a:gd name="T44" fmla="*/ 3758 w 6057"/>
              <a:gd name="T45" fmla="*/ 2303 h 3414"/>
              <a:gd name="T46" fmla="*/ 4908 w 6057"/>
              <a:gd name="T47" fmla="*/ 1151 h 3414"/>
              <a:gd name="T48" fmla="*/ 3798 w 6057"/>
              <a:gd name="T49" fmla="*/ 2263 h 3414"/>
              <a:gd name="T50" fmla="*/ 2689 w 6057"/>
              <a:gd name="T51" fmla="*/ 1151 h 3414"/>
              <a:gd name="T52" fmla="*/ 3798 w 6057"/>
              <a:gd name="T53" fmla="*/ 40 h 3414"/>
              <a:gd name="T54" fmla="*/ 4908 w 6057"/>
              <a:gd name="T55" fmla="*/ 1151 h 34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6057" h="3414">
                <a:moveTo>
                  <a:pt x="0" y="0"/>
                </a:moveTo>
                <a:lnTo>
                  <a:pt x="1460" y="0"/>
                </a:lnTo>
                <a:lnTo>
                  <a:pt x="349" y="1111"/>
                </a:lnTo>
                <a:lnTo>
                  <a:pt x="0" y="761"/>
                </a:lnTo>
                <a:lnTo>
                  <a:pt x="0" y="0"/>
                </a:lnTo>
                <a:close/>
                <a:moveTo>
                  <a:pt x="1539" y="0"/>
                </a:moveTo>
                <a:lnTo>
                  <a:pt x="3758" y="0"/>
                </a:lnTo>
                <a:lnTo>
                  <a:pt x="2649" y="1111"/>
                </a:lnTo>
                <a:lnTo>
                  <a:pt x="1539" y="0"/>
                </a:lnTo>
                <a:close/>
                <a:moveTo>
                  <a:pt x="3839" y="0"/>
                </a:moveTo>
                <a:lnTo>
                  <a:pt x="6057" y="0"/>
                </a:lnTo>
                <a:lnTo>
                  <a:pt x="4948" y="1111"/>
                </a:lnTo>
                <a:lnTo>
                  <a:pt x="3839" y="0"/>
                </a:lnTo>
                <a:close/>
                <a:moveTo>
                  <a:pt x="2608" y="1151"/>
                </a:moveTo>
                <a:lnTo>
                  <a:pt x="1499" y="2263"/>
                </a:lnTo>
                <a:lnTo>
                  <a:pt x="390" y="1151"/>
                </a:lnTo>
                <a:lnTo>
                  <a:pt x="1499" y="40"/>
                </a:lnTo>
                <a:lnTo>
                  <a:pt x="2608" y="1151"/>
                </a:lnTo>
                <a:close/>
                <a:moveTo>
                  <a:pt x="3758" y="2303"/>
                </a:moveTo>
                <a:lnTo>
                  <a:pt x="2649" y="3414"/>
                </a:lnTo>
                <a:lnTo>
                  <a:pt x="1539" y="2303"/>
                </a:lnTo>
                <a:lnTo>
                  <a:pt x="2649" y="1192"/>
                </a:lnTo>
                <a:lnTo>
                  <a:pt x="3758" y="2303"/>
                </a:lnTo>
                <a:close/>
                <a:moveTo>
                  <a:pt x="4908" y="1151"/>
                </a:moveTo>
                <a:lnTo>
                  <a:pt x="3798" y="2263"/>
                </a:lnTo>
                <a:lnTo>
                  <a:pt x="2689" y="1151"/>
                </a:lnTo>
                <a:lnTo>
                  <a:pt x="3798" y="40"/>
                </a:lnTo>
                <a:lnTo>
                  <a:pt x="4908" y="1151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0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f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3827757-64B1-4EF0-872A-2B97A03061E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05" y="0"/>
            <a:ext cx="6042218" cy="4332157"/>
          </a:xfrm>
        </p:spPr>
      </p:pic>
      <p:sp>
        <p:nvSpPr>
          <p:cNvPr id="31" name="13"/>
          <p:cNvSpPr/>
          <p:nvPr/>
        </p:nvSpPr>
        <p:spPr>
          <a:xfrm>
            <a:off x="0" y="2638269"/>
            <a:ext cx="4486534" cy="4219732"/>
          </a:xfrm>
          <a:custGeom>
            <a:avLst/>
            <a:gdLst>
              <a:gd name="connsiteX0" fmla="*/ 1927799 w 8331287"/>
              <a:gd name="connsiteY0" fmla="*/ 0 h 6419035"/>
              <a:gd name="connsiteX1" fmla="*/ 8331287 w 8331287"/>
              <a:gd name="connsiteY1" fmla="*/ 6419035 h 6419035"/>
              <a:gd name="connsiteX2" fmla="*/ 0 w 8331287"/>
              <a:gd name="connsiteY2" fmla="*/ 6419035 h 6419035"/>
              <a:gd name="connsiteX3" fmla="*/ 0 w 8331287"/>
              <a:gd name="connsiteY3" fmla="*/ 1930738 h 641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31287" h="6419035">
                <a:moveTo>
                  <a:pt x="1927799" y="0"/>
                </a:moveTo>
                <a:lnTo>
                  <a:pt x="8331287" y="6419035"/>
                </a:lnTo>
                <a:lnTo>
                  <a:pt x="0" y="6419035"/>
                </a:lnTo>
                <a:lnTo>
                  <a:pt x="0" y="1930738"/>
                </a:lnTo>
                <a:close/>
              </a:path>
            </a:pathLst>
          </a:custGeom>
          <a:gradFill>
            <a:gsLst>
              <a:gs pos="7000">
                <a:srgbClr val="09BF51">
                  <a:alpha val="85000"/>
                </a:srgbClr>
              </a:gs>
              <a:gs pos="96000">
                <a:srgbClr val="005BD6">
                  <a:alpha val="85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900">
              <a:solidFill>
                <a:srgbClr val="3F3F3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91750" y="3333357"/>
            <a:ext cx="521554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5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Roboto Black" panose="02000000000000000000" pitchFamily="2" charset="0"/>
                <a:cs typeface="Times New Roman" panose="02020603050405020304" pitchFamily="18" charset="0"/>
              </a:rPr>
              <a:t>Operating system project</a:t>
            </a:r>
          </a:p>
          <a:p>
            <a:pPr algn="ctr" defTabSz="45715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Roboto Black" panose="02000000000000000000" pitchFamily="2" charset="0"/>
                <a:cs typeface="Times New Roman" panose="02020603050405020304" pitchFamily="18" charset="0"/>
              </a:rPr>
              <a:t> </a:t>
            </a:r>
          </a:p>
          <a:p>
            <a:pPr algn="ctr" defTabSz="45715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Roboto Black" panose="02000000000000000000" pitchFamily="2" charset="0"/>
                <a:cs typeface="Times New Roman" panose="02020603050405020304" pitchFamily="18" charset="0"/>
              </a:rPr>
              <a:t>Prepared by:</a:t>
            </a:r>
          </a:p>
          <a:p>
            <a:pPr algn="ctr" defTabSz="45715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Roboto Black" panose="02000000000000000000" pitchFamily="2" charset="0"/>
                <a:cs typeface="Times New Roman" panose="02020603050405020304" pitchFamily="18" charset="0"/>
              </a:rPr>
              <a:t>Shaimaa dar taha-1222440 </a:t>
            </a:r>
          </a:p>
          <a:p>
            <a:pPr algn="ctr" defTabSz="45715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Roboto Black" panose="02000000000000000000" pitchFamily="2" charset="0"/>
                <a:cs typeface="Times New Roman" panose="02020603050405020304" pitchFamily="18" charset="0"/>
              </a:rPr>
              <a:t>Abeer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Roboto Black" panose="02000000000000000000" pitchFamily="2" charset="0"/>
                <a:cs typeface="Times New Roman" panose="02020603050405020304" pitchFamily="18" charset="0"/>
              </a:rPr>
              <a:t> salah-1220425</a:t>
            </a:r>
          </a:p>
          <a:p>
            <a:pPr algn="ctr" defTabSz="457154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Roboto Black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53486" y="1442936"/>
            <a:ext cx="1089809" cy="226078"/>
          </a:xfrm>
          <a:prstGeom prst="rect">
            <a:avLst/>
          </a:prstGeom>
          <a:gradFill>
            <a:gsLst>
              <a:gs pos="7000">
                <a:srgbClr val="09BF51">
                  <a:alpha val="43000"/>
                </a:srgbClr>
              </a:gs>
              <a:gs pos="96000">
                <a:srgbClr val="005BD6">
                  <a:alpha val="80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rgbClr val="3F3F3F"/>
                </a:solidFill>
                <a:latin typeface="Calibri" panose="020F0502020204030204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defTabSz="457154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900" dirty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53486" y="1187706"/>
            <a:ext cx="1089809" cy="207749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 defTabSz="457154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750" b="1" spc="300" dirty="0">
              <a:gradFill>
                <a:gsLst>
                  <a:gs pos="7000">
                    <a:srgbClr val="09BF51">
                      <a:alpha val="43000"/>
                    </a:srgbClr>
                  </a:gs>
                  <a:gs pos="96000">
                    <a:srgbClr val="005BD6">
                      <a:alpha val="80000"/>
                    </a:srgbClr>
                  </a:gs>
                </a:gsLst>
                <a:lin ang="27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cxnSp>
        <p:nvCxnSpPr>
          <p:cNvPr id="3" name="رابط مستقيم 2">
            <a:extLst>
              <a:ext uri="{FF2B5EF4-FFF2-40B4-BE49-F238E27FC236}">
                <a16:creationId xmlns:a16="http://schemas.microsoft.com/office/drawing/2014/main" id="{F89B9F07-1E3E-44C7-9298-F70F6A98BA42}"/>
              </a:ext>
            </a:extLst>
          </p:cNvPr>
          <p:cNvCxnSpPr>
            <a:cxnSpLocks/>
          </p:cNvCxnSpPr>
          <p:nvPr/>
        </p:nvCxnSpPr>
        <p:spPr>
          <a:xfrm flipH="1">
            <a:off x="3099627" y="0"/>
            <a:ext cx="3899644" cy="4456742"/>
          </a:xfrm>
          <a:prstGeom prst="line">
            <a:avLst/>
          </a:prstGeom>
          <a:ln w="38100">
            <a:gradFill>
              <a:gsLst>
                <a:gs pos="0">
                  <a:srgbClr val="2AA29E"/>
                </a:gs>
                <a:gs pos="100000">
                  <a:srgbClr val="2ABE7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638032" y="5862785"/>
            <a:ext cx="3540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 : Yazan Abu Farha </a:t>
            </a:r>
          </a:p>
        </p:txBody>
      </p:sp>
    </p:spTree>
    <p:extLst>
      <p:ext uri="{BB962C8B-B14F-4D97-AF65-F5344CB8AC3E}">
        <p14:creationId xmlns:p14="http://schemas.microsoft.com/office/powerpoint/2010/main" val="1031160097"/>
      </p:ext>
    </p:extLst>
  </p:cSld>
  <p:clrMapOvr>
    <a:masterClrMapping/>
  </p:clrMapOvr>
  <p:transition spd="slow">
    <p:randomBar dir="vert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decel="10000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9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9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6" presetClass="emph" presetSubtype="0" repeatCount="indefinite" autoRev="1" fill="hold" grpId="1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Scale>
                                          <p:cBhvr>
                                            <p:cTn id="10" dur="1500" fill="hold"/>
                                            <p:tgtEl>
                                              <p:spTgt spid="31"/>
                                            </p:tgtEl>
                                          </p:cBhvr>
                                          <p:by x="150000" y="15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2" fill="hold" grpId="0" nodeType="withEffect" p14:presetBounceEnd="40000">
                                      <p:stCondLst>
                                        <p:cond delay="38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3" dur="9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4" dur="9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2" fill="hold" grpId="0" nodeType="withEffect" p14:presetBounceEnd="40000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7" dur="9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8" dur="9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5" presetClass="entr" presetSubtype="1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checkerboard(across)">
                                          <p:cBhvr>
                                            <p:cTn id="21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1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4" dur="7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2" presetClass="exit" presetSubtype="1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Effect transition="out" filter="wipe(up)">
                                          <p:cBhvr>
                                            <p:cTn id="26" dur="7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74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8" fill="hold">
                          <p:stCondLst>
                            <p:cond delay="indefinite"/>
                          </p:stCondLst>
                          <p:childTnLst>
                            <p:par>
                              <p:cTn id="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0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5" fill="hold">
                          <p:stCondLst>
                            <p:cond delay="indefinite"/>
                          </p:stCondLst>
                          <p:childTnLst>
                            <p:par>
                              <p:cTn id="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7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1000"/>
                                            <p:tgtEl>
                                              <p:spTgt spid="11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0" dur="1000" fill="hold"/>
                                            <p:tgtEl>
                                              <p:spTgt spid="11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1000" fill="hold"/>
                                            <p:tgtEl>
                                              <p:spTgt spid="11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2" fill="hold">
                          <p:stCondLst>
                            <p:cond delay="indefinite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000"/>
                                            <p:tgtEl>
                                              <p:spTgt spid="11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7" dur="1000" fill="hold"/>
                                            <p:tgtEl>
                                              <p:spTgt spid="11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11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1000"/>
                                            <p:tgtEl>
                                              <p:spTgt spid="11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11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11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6" fill="hold">
                          <p:stCondLst>
                            <p:cond delay="indefinite"/>
                          </p:stCondLst>
                          <p:childTnLst>
                            <p:par>
                              <p:cTn id="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1000"/>
                                            <p:tgtEl>
                                              <p:spTgt spid="11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11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11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1" grpId="1" animBg="1"/>
          <p:bldP spid="11" grpId="0"/>
          <p:bldP spid="17" grpId="0" animBg="1"/>
          <p:bldP spid="18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decel="10000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9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9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6" presetClass="emph" presetSubtype="0" repeatCount="indefinite" autoRev="1" fill="hold" grpId="1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Scale>
                                          <p:cBhvr>
                                            <p:cTn id="10" dur="1500" fill="hold"/>
                                            <p:tgtEl>
                                              <p:spTgt spid="31"/>
                                            </p:tgtEl>
                                          </p:cBhvr>
                                          <p:by x="150000" y="15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2" fill="hold" grpId="0" nodeType="withEffect">
                                      <p:stCondLst>
                                        <p:cond delay="38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9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9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2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9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9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5" presetClass="entr" presetSubtype="10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checkerboard(across)">
                                          <p:cBhvr>
                                            <p:cTn id="21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1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4" dur="7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2" presetClass="exit" presetSubtype="1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Effect transition="out" filter="wipe(up)">
                                          <p:cBhvr>
                                            <p:cTn id="26" dur="7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74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8" fill="hold">
                          <p:stCondLst>
                            <p:cond delay="indefinite"/>
                          </p:stCondLst>
                          <p:childTnLst>
                            <p:par>
                              <p:cTn id="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0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5" fill="hold">
                          <p:stCondLst>
                            <p:cond delay="indefinite"/>
                          </p:stCondLst>
                          <p:childTnLst>
                            <p:par>
                              <p:cTn id="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7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1000"/>
                                            <p:tgtEl>
                                              <p:spTgt spid="11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0" dur="1000" fill="hold"/>
                                            <p:tgtEl>
                                              <p:spTgt spid="11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1000" fill="hold"/>
                                            <p:tgtEl>
                                              <p:spTgt spid="11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2" fill="hold">
                          <p:stCondLst>
                            <p:cond delay="indefinite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000"/>
                                            <p:tgtEl>
                                              <p:spTgt spid="11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7" dur="1000" fill="hold"/>
                                            <p:tgtEl>
                                              <p:spTgt spid="11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11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1000"/>
                                            <p:tgtEl>
                                              <p:spTgt spid="11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11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11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6" fill="hold">
                          <p:stCondLst>
                            <p:cond delay="indefinite"/>
                          </p:stCondLst>
                          <p:childTnLst>
                            <p:par>
                              <p:cTn id="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1000"/>
                                            <p:tgtEl>
                                              <p:spTgt spid="11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11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1000" fill="hold"/>
                                            <p:tgtEl>
                                              <p:spTgt spid="11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1" grpId="1" animBg="1"/>
          <p:bldP spid="11" grpId="0"/>
          <p:bldP spid="17" grpId="0" animBg="1"/>
          <p:bldP spid="18" grpId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07571" y="1301259"/>
            <a:ext cx="6991004" cy="5116166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 ,we simulates two memory management techniques contiguous memory allocation and paging.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first part handles memory requests using First Fit, Best Fit, and Worst Fit strategies.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second part simulates a paging system, managing frames and translating logical to physical addresses.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Together, both parts demonstrate core OS concepts like allocation, fragmentation, and address translation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9982"/>
          </a:xfrm>
          <a:noFill/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 was used for this project. By use VS code 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contagious memory allocation we used linked lists represent memory blocks.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second part For paging system we use an arrays and dictionary to implement the frames and pages</a:t>
            </a:r>
            <a:r>
              <a:rPr lang="en-US" dirty="0">
                <a:solidFill>
                  <a:schemeClr val="bg1"/>
                </a:solidFill>
                <a:cs typeface="+mj-cs"/>
              </a:rPr>
              <a:t>.</a:t>
            </a:r>
            <a:endParaRPr lang="ar-JO" dirty="0">
              <a:solidFill>
                <a:schemeClr val="bg1"/>
              </a:solidFill>
              <a:cs typeface="+mj-cs"/>
            </a:endParaRPr>
          </a:p>
          <a:p>
            <a:pPr marL="0" indent="0">
              <a:buNone/>
            </a:pP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Language and Data structures 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895"/>
            <a:ext cx="8661793" cy="1143000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1: Contiguous Allocation</a:t>
            </a:r>
            <a:endParaRPr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649" y="1163782"/>
            <a:ext cx="7695609" cy="531196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command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 : allocates memory based on strategies: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fit, Best fit, Worst fit.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RL: releases process memory.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C: compacts all holes.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STAT: list all memory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X: exit the contiguous </a:t>
            </a:r>
            <a:endParaRPr lang="en-US" dirty="0">
              <a:solidFill>
                <a:schemeClr val="bg1"/>
              </a:solidFill>
            </a:endParaRPr>
          </a:p>
          <a:p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25F7F0-5EF8-02DA-0688-9EC1A019A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458984"/>
            <a:ext cx="9226193" cy="240909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069" y="25256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2: Paging System </a:t>
            </a:r>
            <a:endParaRPr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069" y="1068649"/>
            <a:ext cx="8229600" cy="5128635"/>
          </a:xfrm>
        </p:spPr>
        <p:txBody>
          <a:bodyPr/>
          <a:lstStyle/>
          <a:p>
            <a:r>
              <a:rPr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divided into fixed-size frames .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command 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 : allocates  frames based on needed pages.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RL: releases all frames used by a process.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TR: command performs logical to physical translation.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STAT: lists frame-to-process mapping.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X: exit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ar-JO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Paging 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50240"/>
            <a:ext cx="9073260" cy="228250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9640"/>
            <a:ext cx="8528859" cy="80676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cases for part1: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6405"/>
            <a:ext cx="9144000" cy="5677594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RQ command:</a:t>
            </a:r>
            <a:endParaRPr lang="ar-JO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allocate by three strategies the Best fit, first fit and the worst fit. If the user tries to allocate memory for a process and there isn't enough available memory, the request rejected.</a:t>
            </a:r>
            <a:r>
              <a:rPr lang="ar-S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JO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r-JO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fit case: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algn="ctr">
              <a:buFont typeface="Arial" panose="020B0604020202020204" pitchFamily="34" charset="0"/>
              <a:buChar char="•"/>
            </a:pPr>
            <a:endParaRPr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343184" y="2726574"/>
            <a:ext cx="3819914" cy="3923607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432262" y="2726573"/>
            <a:ext cx="3910922" cy="392360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9136"/>
            <a:ext cx="8229600" cy="6367548"/>
          </a:xfr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Worst fit case</a:t>
            </a:r>
            <a:r>
              <a:rPr lang="ar-J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cs typeface="+mj-cs"/>
              </a:rPr>
              <a:t>                                </a:t>
            </a:r>
            <a:r>
              <a:rPr lang="ar-JO" sz="1600" dirty="0">
                <a:cs typeface="+mj-cs"/>
              </a:rPr>
              <a:t>  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fit case  </a:t>
            </a:r>
            <a:r>
              <a:rPr lang="en-US" sz="1600" dirty="0">
                <a:solidFill>
                  <a:schemeClr val="bg1"/>
                </a:solidFill>
              </a:rPr>
              <a:t>                      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RL command</a:t>
            </a:r>
            <a:endParaRPr lang="ar-JO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ar-JO" sz="2000" dirty="0">
              <a:solidFill>
                <a:schemeClr val="bg1"/>
              </a:solidFill>
            </a:endParaRPr>
          </a:p>
          <a:p>
            <a:endParaRPr lang="ar-JO" sz="2000" dirty="0">
              <a:solidFill>
                <a:schemeClr val="bg1"/>
              </a:solidFill>
            </a:endParaRPr>
          </a:p>
          <a:p>
            <a:endParaRPr lang="ar-JO" sz="2000" dirty="0">
              <a:solidFill>
                <a:schemeClr val="bg1"/>
              </a:solidFill>
            </a:endParaRPr>
          </a:p>
          <a:p>
            <a:endParaRPr lang="ar-JO" sz="2000" dirty="0">
              <a:solidFill>
                <a:schemeClr val="bg1"/>
              </a:solidFill>
            </a:endParaRPr>
          </a:p>
          <a:p>
            <a:endParaRPr lang="ar-JO" sz="2000" dirty="0">
              <a:solidFill>
                <a:schemeClr val="bg1"/>
              </a:solidFill>
            </a:endParaRPr>
          </a:p>
          <a:p>
            <a:endParaRPr lang="ar-JO" sz="2000" dirty="0">
              <a:solidFill>
                <a:schemeClr val="bg1"/>
              </a:solidFill>
            </a:endParaRPr>
          </a:p>
          <a:p>
            <a:endParaRPr lang="ar-JO" sz="2000" dirty="0">
              <a:solidFill>
                <a:schemeClr val="bg1"/>
              </a:solidFill>
            </a:endParaRPr>
          </a:p>
          <a:p>
            <a:endParaRPr lang="ar-JO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endParaRPr lang="ar-JO" sz="2000" dirty="0">
              <a:solidFill>
                <a:schemeClr val="bg1"/>
              </a:solidFill>
            </a:endParaRPr>
          </a:p>
          <a:p>
            <a:endParaRPr lang="ar-JO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ar-JO" dirty="0"/>
              <a:t>                     </a:t>
            </a:r>
          </a:p>
          <a:p>
            <a:endParaRPr lang="en-US" dirty="0"/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" y="790257"/>
            <a:ext cx="2768138" cy="4829147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3225337" y="790256"/>
            <a:ext cx="2793075" cy="4829148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6018412" y="790257"/>
            <a:ext cx="2668387" cy="482914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5760"/>
            <a:ext cx="8229600" cy="5760403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Compact (C)                                                                            command (X)</a:t>
            </a:r>
          </a:p>
          <a:p>
            <a:endParaRPr lang="en-US" sz="16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68482" y="865613"/>
            <a:ext cx="3654136" cy="5069674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322618" y="865613"/>
            <a:ext cx="3873731" cy="506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692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382" y="0"/>
            <a:ext cx="8437418" cy="748145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cases for paging mode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49382" y="748146"/>
            <a:ext cx="8437418" cy="5378018"/>
          </a:xfr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RQ  and </a:t>
            </a:r>
            <a:r>
              <a:rPr 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 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STAT commands:                          for RL and X  command :</a:t>
            </a:r>
            <a:endParaRPr lang="ar-JO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7" y="1071244"/>
            <a:ext cx="4290265" cy="5589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913" y="1039754"/>
            <a:ext cx="4595620" cy="562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959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242805"/>
            <a:ext cx="7772400" cy="150018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502675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440</TotalTime>
  <Words>271</Words>
  <Application>Microsoft Office PowerPoint</Application>
  <PresentationFormat>On-screen Show (4:3)</PresentationFormat>
  <Paragraphs>51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Open Sans</vt:lpstr>
      <vt:lpstr>Roboto</vt:lpstr>
      <vt:lpstr>Roboto Black</vt:lpstr>
      <vt:lpstr>Times New Roman</vt:lpstr>
      <vt:lpstr>Office Theme</vt:lpstr>
      <vt:lpstr>PowerPoint Presentation</vt:lpstr>
      <vt:lpstr>Introduction</vt:lpstr>
      <vt:lpstr> Implementation Language and Data structures  </vt:lpstr>
      <vt:lpstr>Part 1: Contiguous Allocation</vt:lpstr>
      <vt:lpstr>Part 2: Paging System </vt:lpstr>
      <vt:lpstr>Test cases for part1:</vt:lpstr>
      <vt:lpstr>PowerPoint Presentation</vt:lpstr>
      <vt:lpstr>PowerPoint Presentation</vt:lpstr>
      <vt:lpstr>Test cases for paging mode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Whose Responsibility is it to Fight Obesity: Individuals or the Government?</dc:title>
  <dc:subject/>
  <dc:creator/>
  <cp:keywords/>
  <dc:description>generated using python-pptx</dc:description>
  <cp:lastModifiedBy>HP</cp:lastModifiedBy>
  <cp:revision>51</cp:revision>
  <dcterms:created xsi:type="dcterms:W3CDTF">2013-01-27T09:14:16Z</dcterms:created>
  <dcterms:modified xsi:type="dcterms:W3CDTF">2025-06-16T09:10:40Z</dcterms:modified>
  <cp:category/>
</cp:coreProperties>
</file>